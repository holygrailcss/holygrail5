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HolyGrail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Migración y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Arquitectura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Formación para desarrolladores frontend — 1 hora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371600" cy="13716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Manuel Ruiz Redondo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01368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1325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Qué es HolyGrail 5 y por qué migramos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368296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928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189280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Arquitectura y flujo de build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935224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5973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2459736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config.json — variables, tipografía, helpers, grid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502152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266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3026664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Sistema de temas y documentación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93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59359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Guía práctica de migración paso a paso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4636008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60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41605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Tests, calidad y recursos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¿Qué es HolyGrail 5?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Generador CSS + guía HTML para design systems ligeros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18288"/>
          </a:xfrm>
          <a:prstGeom prst="rect">
            <a:avLst/>
          </a:prstGeom>
          <a:solidFill>
            <a:srgbClr val="2D2D2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Visión general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46888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Declarativo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Defines tu design system en un config.json y HolyGrail genera todo el CSS, variables y documentación automáticamente.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46888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 dependencias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3320" y="19659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necesita SASS, PostCSS ni toolchains complejos. Solo Node.js y un JSON. Cero dependencias externas de producción.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46888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Mobile-first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659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Todo el CSS sigue mobile-first. Breakpoints configurables generan media queries automáticas con prefijo responsive.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7680960" cy="4572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77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v1.0.18   ·   MIT License   ·   Node &gt;= 12   ·   npm install holygrail5   ·   20 tests   ·   0 deps runtime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¿Qué genera HolyGrail 5?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09928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dist/output.css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234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Reset + variables + helpers + spacing + grid + aspect ratios + tipografía responsive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276856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01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dist/index.html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801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Guía interactiva con buscador, navegación sticky, diffs visuales y metadata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843784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682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dist/guide-styles.css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3682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Estilos de la guía de documentación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410712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352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dist/assets/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93522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Imágenes y recursos estáticos copiados automáticamente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021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dist/themes/dutti.css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5021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CSS del tema combinado (cuando theme.enabled = true)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544568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69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dist/themes/dutti-demo.html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4069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 interactiva del tema con sidebar y Lenis scroll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Arquitectura del sistema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Modular, testeada y extensible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18288"/>
          </a:xfrm>
          <a:prstGeom prst="rect">
            <a:avLst/>
          </a:prstGeom>
          <a:solidFill>
            <a:srgbClr val="2D2D2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Flujo de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generate-css.js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1920240"/>
            <a:ext cx="4572000" cy="502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920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BuildOrchestrator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2423160"/>
            <a:ext cx="13716" cy="228600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651760"/>
            <a:ext cx="16002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651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config-loader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Carga y valida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config.json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88920" y="2423160"/>
            <a:ext cx="13716" cy="228600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11680" y="2651760"/>
            <a:ext cx="16002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651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css-generator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 output.css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(6 generadores)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26280" y="2423160"/>
            <a:ext cx="13716" cy="228600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18" name="Shape 16"/>
          <p:cNvSpPr/>
          <p:nvPr/>
        </p:nvSpPr>
        <p:spPr>
          <a:xfrm>
            <a:off x="3749040" y="2651760"/>
            <a:ext cx="16002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651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html-generator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4904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 index.html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(guía interactiva)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63640" y="2423160"/>
            <a:ext cx="13716" cy="228600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0" y="2651760"/>
            <a:ext cx="16002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651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AssetManager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Copia CSS 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imágenes a dist/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01000" y="2423160"/>
            <a:ext cx="13716" cy="228600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0" y="2651760"/>
            <a:ext cx="16002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651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ThemeTransformer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2376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Combina temas,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inyecta sidebar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4023360"/>
            <a:ext cx="7680960" cy="4572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css-generator invoca:  reset  →  variables  →  spacing  →  helpers  →  grid  →  ratios  →  typo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config.json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corazón del design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18288"/>
          </a:xfrm>
          <a:prstGeom prst="rect">
            <a:avLst/>
          </a:prstGeom>
          <a:solidFill>
            <a:srgbClr val="2D2D2D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Propiedades del config.json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6888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"hg"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Prefijo para todas las variables CSS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499616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179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breakpoints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5179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/ desktop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517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Media queries (ej: 992px)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874520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928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white, black, ... 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892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Paleta de colores → --hg-color-*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249424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2677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spacingMap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0, 4, 8 ... 160 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267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Escala de spacing en px y 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624328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6426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fontFamilyMap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2642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/ secondary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6426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Alias para familias tipográficas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2999232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h2, title-l, ... 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Clases tipográficas responsive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3374136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392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8880" y="3392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display, flex, ... }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3924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Utilidades de layout configurables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3749040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767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68880" y="3767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→ xl, 12-24 cols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767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Grid con gutter y breakpoints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4123944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142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aspectRatios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68880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1:1, 16:9, 2:3 ...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41422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Ratios con fallback automático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1520" y="4498848"/>
            <a:ext cx="7680960" cy="457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5171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468880" y="45171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name, enabled }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45171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Activar y configurar tema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Variables CSS y colores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Paleta → --hg-color-*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84832" y="1508760"/>
            <a:ext cx="1097280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4832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black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38144" y="1508760"/>
            <a:ext cx="1097280" cy="411480"/>
          </a:xfrm>
          <a:prstGeom prst="rect">
            <a:avLst/>
          </a:prstGeom>
          <a:solidFill>
            <a:srgbClr val="737373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dark-grey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91456" y="1508760"/>
            <a:ext cx="1097280" cy="411480"/>
          </a:xfrm>
          <a:prstGeom prst="rect">
            <a:avLst/>
          </a:prstGeom>
          <a:solidFill>
            <a:srgbClr val="A9A9A9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middle-grey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44768" y="1508760"/>
            <a:ext cx="1097280" cy="411480"/>
          </a:xfrm>
          <a:prstGeom prst="rect">
            <a:avLst/>
          </a:prstGeom>
          <a:solidFill>
            <a:srgbClr val="B75D0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orange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498080" y="1508760"/>
            <a:ext cx="1097280" cy="411480"/>
          </a:xfrm>
          <a:prstGeom prst="rect">
            <a:avLst/>
          </a:prstGeom>
          <a:solidFill>
            <a:srgbClr val="FFE693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mustard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" y="2286000"/>
            <a:ext cx="1097280" cy="411480"/>
          </a:xfrm>
          <a:prstGeom prst="rect">
            <a:avLst/>
          </a:prstGeom>
          <a:solidFill>
            <a:srgbClr val="B40016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error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084832" y="2286000"/>
            <a:ext cx="1097280" cy="411480"/>
          </a:xfrm>
          <a:prstGeom prst="rect">
            <a:avLst/>
          </a:prstGeom>
          <a:solidFill>
            <a:srgbClr val="12882C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84832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success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38144" y="2286000"/>
            <a:ext cx="1097280" cy="411480"/>
          </a:xfrm>
          <a:prstGeom prst="rect">
            <a:avLst/>
          </a:prstGeom>
          <a:solidFill>
            <a:srgbClr val="FB9962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91456" y="2286000"/>
            <a:ext cx="1097280" cy="411480"/>
          </a:xfrm>
          <a:prstGeom prst="rect">
            <a:avLst/>
          </a:prstGeom>
          <a:solidFill>
            <a:srgbClr val="B99D6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special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44768" y="2286000"/>
            <a:ext cx="1097280" cy="411480"/>
          </a:xfrm>
          <a:prstGeom prst="rect">
            <a:avLst/>
          </a:prstGeom>
          <a:solidFill>
            <a:srgbClr val="F4F2ED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vanilla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498080" y="2286000"/>
            <a:ext cx="1097280" cy="411480"/>
          </a:xfrm>
          <a:prstGeom prst="rect">
            <a:avLst/>
          </a:prstGeom>
          <a:solidFill>
            <a:srgbClr val="A38A6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Spacing → --hg-spacing-*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3657600"/>
            <a:ext cx="768096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3703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--hg-spacing-8: 0.5rem;   --hg-spacing-16: 1rem;   --hg-spacing-24: 1.5rem;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--hg-color-primary: #000;  --hg-color-error: #b40016;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Sistema tipográfico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clase define propiedades base + valores por breakpoint (mobile/desktop). Los px se convierten a rem.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914400"/>
                <a:gridCol w="1920240"/>
                <a:gridCol w="1920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Clase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Font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Weight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Mobile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Desktop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.hg-h2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Arial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900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18px / 1.97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24px / 1.2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.hg-title-l-b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Arial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700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14px / 1.2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14px / 1.4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.hg-title-l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Arial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100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14px / 1.4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14px / 1.4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.hg-text-m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Arial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100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12px / 1.5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13px / 1.5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.hg-suisse-1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ms-serif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16px / 1.5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20px / 1.5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.hg-suisse-2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ms-serif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13px / 1.1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14px / 1.1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.hg-hg-body-m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Arial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100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12px / 1.5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13px / 1.5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977640"/>
            <a:ext cx="7680960" cy="4572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114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Variables compartidas: --hg-typo-font-size-24 — el generador deduplica valores y crea variables reutilizables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Helpers de layout y Grid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Helpers configurables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402336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.hg-d-flex          → display: flex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.hg-d-none          → display: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.md\:hg-d-block    → display: block (desktop)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.hg-justify-center  → justify-content: center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.hg-items-center    → align-items: center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.hg-gap-16          → gap: var(--hg-spacing-16)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.hg-w-100-percent   → width: 100%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.hg-position-sticky → position: sticky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.hg-overflow-hidden → overflow: hidden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Sistema de Grid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63040"/>
          <a:ext cx="33832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BP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Min-width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Cols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xs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1px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sm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768px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992px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1280px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xl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1440px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0" y="3246120"/>
            <a:ext cx="3383280" cy="960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7"/>
          <p:cNvSpPr/>
          <p:nvPr/>
        </p:nvSpPr>
        <p:spPr>
          <a:xfrm>
            <a:off x="5212080" y="3337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.row  +  .col-md-6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.col-lg-4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.bleed (sin gutter)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Gutter: 8px  |  Margin: 16px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Temas y documentación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Extender el design system con temas personalizados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18288"/>
          </a:xfrm>
          <a:prstGeom prst="rect">
            <a:avLst/>
          </a:prstGeom>
          <a:solidFill>
            <a:srgbClr val="2D2D2D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Tema Dutti — Ejemplo real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Estructura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93192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themes/dutti/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theme.css          # Imports ITCSS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_variables.css     # Variables del tema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_buttons.css       # Botones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_inputs.css        # Inputs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_checkboxes.css    # Checkboxes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_radios.css        # Radios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_switches.css      # Switches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_forms.css         # Formularios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demo.html          # Demo interactiva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Cómo funciona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4924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Activa en config.json: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theme: { "name": "dutti", "enabled": true 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77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ThemeTransformer combina CSS parciales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 dist/themes/dutti.css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Transforma demo.html añadiendo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sidebar, header y Lenis scroll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3246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Variables del tema extienden HG5: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--hg-color-* → --btn-primary-bg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7680960" cy="4572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Crear tu tema:  copiar themes/dutti/  →  ajustar ficheros  →  actualizar config.json  →  npm run build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Migración paso a paso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Cómo integrar HolyGrail 5 en tu proyecto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18288"/>
          </a:xfrm>
          <a:prstGeom prst="rect">
            <a:avLst/>
          </a:prstGeom>
          <a:solidFill>
            <a:srgbClr val="2D2D2D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Guía de migración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Instalar HolyGrail 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115568"/>
            <a:ext cx="5212080" cy="329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1155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holygrail5 --save-dev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6093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Crear tu config.json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27632"/>
            <a:ext cx="5212080" cy="329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6276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Definir: prefix, breakpoints, colors, spacingMap, typo, helpers, grid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1214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121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Generar CSS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139696"/>
            <a:ext cx="5212080" cy="329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13969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holygrail5 --config=./config.json --output=./dist/output.css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26334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633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Enlazar en tu HTML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2651760"/>
            <a:ext cx="5212080" cy="329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26517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href="dist/output.css"&gt;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1455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1455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Reemplazar clases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3163824"/>
            <a:ext cx="5212080" cy="329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31638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Mapear clases CSS legacy → clases .hg-* nuevas (spacing, helpers, typo)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3657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Configurar scripts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3675888"/>
            <a:ext cx="5212080" cy="329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36758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"build:css": "holygrail5", "watch:css": "node ...watch-config.js"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" y="41696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1696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Validar y limpiar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4187952"/>
            <a:ext cx="5212080" cy="329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418795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vars:report → vars:remove-unused → eliminar CSS legacy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Tests, CLI y scripts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Scripts disponibles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346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CSS + HTML + assets + temas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watch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1847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Observa cambios y regenera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311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serve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2231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Servidor local :3000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15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26151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 + serve (desarrollo)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Ejecuta 20 tests unitarios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vars:report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Informe de variables CSS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767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vars:remove-unused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Limpia vars no usadas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Suite de tests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0" y="1463040"/>
            <a:ext cx="329184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4630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40080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tests pasando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fallidos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config-loader · css-generator · helpers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html-generator · ratio · asset-manager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theme-transformer · build-orchestrator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20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Guía HTML interactiva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3246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Resumen visual de colores, tipografías y spacing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20640" y="35387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Detección de cambios (diffs visuales)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20640" y="38313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Buscador instantáneo + navegación lateral fija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20640" y="41239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Metadata: versión y último commit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20640" y="4416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Publicable en Netlify, GitHub Pages, Vercel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HolyGrail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¿Preguntas?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7680960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Recursos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Repositorio:  </a:t>
            </a:r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github.com/holygrailcss/holygrail5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npm:  </a:t>
            </a:r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npmjs.com/package/holygrail5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Docs:  </a:t>
            </a:r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docs/ en el repositorio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Guía integración:  </a:t>
            </a:r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docs/GUIA-USO-OTRO-PROYECTO.md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Migración a HolyGrail 5 — Formación para desarrolladores frontend</dc:title>
  <dc:subject>PptxGenJS Presentation</dc:subject>
  <dc:creator>Manuel Ruiz Redondo</dc:creator>
  <cp:lastModifiedBy>Manuel Ruiz Redondo</cp:lastModifiedBy>
  <cp:revision>1</cp:revision>
  <dcterms:created xsi:type="dcterms:W3CDTF">2026-04-13T10:04:26Z</dcterms:created>
  <dcterms:modified xsi:type="dcterms:W3CDTF">2026-04-13T10:04:26Z</dcterms:modified>
</cp:coreProperties>
</file>